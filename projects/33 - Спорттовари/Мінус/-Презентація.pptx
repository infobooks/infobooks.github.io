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rive\6%20klas\5-xls%20(7-10)\09-&#171;6-&#1057;&#1087;&#1086;&#1088;&#1090;&#1090;&#1086;&#1074;&#1072;&#1088;&#1080;&#187;\&#1052;&#1110;&#1085;&#1091;&#1089;\&#1044;&#1072;&#1085;&#1110;-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rive\6%20klas\5-xls%20(7-10)\09-&#171;6-&#1057;&#1087;&#1086;&#1088;&#1090;&#1090;&#1086;&#1074;&#1072;&#1088;&#1080;&#187;\&#1052;&#1110;&#1085;&#1091;&#1089;\&#1044;&#1072;&#1085;&#1110;-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rive\6%20klas\5-xls%20(7-10)\09-&#171;6-&#1057;&#1087;&#1086;&#1088;&#1090;&#1090;&#1086;&#1074;&#1072;&#1088;&#1080;&#187;\&#1052;&#1110;&#1085;&#1091;&#1089;\&#1044;&#1072;&#1085;&#1110;-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Таблиця!$E$4:$J$4</c:f>
              <c:strCache>
                <c:ptCount val="6"/>
                <c:pt idx="0">
                  <c:v>Січень</c:v>
                </c:pt>
                <c:pt idx="1">
                  <c:v>Лютий</c:v>
                </c:pt>
                <c:pt idx="2">
                  <c:v>Березень</c:v>
                </c:pt>
                <c:pt idx="3">
                  <c:v>Квітень</c:v>
                </c:pt>
                <c:pt idx="4">
                  <c:v>Травень</c:v>
                </c:pt>
                <c:pt idx="5">
                  <c:v>Червень</c:v>
                </c:pt>
              </c:strCache>
            </c:strRef>
          </c:cat>
          <c:val>
            <c:numRef>
              <c:f>Таблиця!$E$8:$J$8</c:f>
              <c:numCache>
                <c:formatCode>General</c:formatCode>
                <c:ptCount val="6"/>
                <c:pt idx="0">
                  <c:v>17</c:v>
                </c:pt>
                <c:pt idx="1">
                  <c:v>32</c:v>
                </c:pt>
                <c:pt idx="2">
                  <c:v>8</c:v>
                </c:pt>
                <c:pt idx="3">
                  <c:v>17</c:v>
                </c:pt>
                <c:pt idx="4">
                  <c:v>32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00-464B-AE7A-E25BEAFC3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745022703"/>
        <c:axId val="745021455"/>
        <c:axId val="0"/>
      </c:bar3DChart>
      <c:catAx>
        <c:axId val="745022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745021455"/>
        <c:crosses val="autoZero"/>
        <c:auto val="1"/>
        <c:lblAlgn val="ctr"/>
        <c:lblOffset val="100"/>
        <c:noMultiLvlLbl val="0"/>
      </c:catAx>
      <c:valAx>
        <c:axId val="745021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745022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A2B-4739-87A7-A1DB2468050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A2B-4739-87A7-A1DB2468050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7A2B-4739-87A7-A1DB2468050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7A2B-4739-87A7-A1DB2468050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7A2B-4739-87A7-A1DB24680504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Таблиця!$D$5:$D$9</c:f>
              <c:strCache>
                <c:ptCount val="5"/>
                <c:pt idx="0">
                  <c:v>Гантелі наборні хромовані 10 кг</c:v>
                </c:pt>
                <c:pt idx="1">
                  <c:v>Гиря чавунна 32 кг</c:v>
                </c:pt>
                <c:pt idx="2">
                  <c:v>Штанга олімпійська 95 кг</c:v>
                </c:pt>
                <c:pt idx="3">
                  <c:v>Килимок для фітнесу</c:v>
                </c:pt>
                <c:pt idx="4">
                  <c:v>Обруч масажний</c:v>
                </c:pt>
              </c:strCache>
            </c:strRef>
          </c:cat>
          <c:val>
            <c:numRef>
              <c:f>Таблиця!$E$5:$E$9</c:f>
              <c:numCache>
                <c:formatCode>General</c:formatCode>
                <c:ptCount val="5"/>
                <c:pt idx="0">
                  <c:v>11</c:v>
                </c:pt>
                <c:pt idx="1">
                  <c:v>14</c:v>
                </c:pt>
                <c:pt idx="2">
                  <c:v>24</c:v>
                </c:pt>
                <c:pt idx="3">
                  <c:v>17</c:v>
                </c:pt>
                <c:pt idx="4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A2B-4739-87A7-A1DB24680504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uk-UA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Таблиця!$D$8</c:f>
              <c:strCache>
                <c:ptCount val="1"/>
                <c:pt idx="0">
                  <c:v>Килимок для фітнесу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Таблиця!$E$4:$J$4</c:f>
              <c:strCache>
                <c:ptCount val="6"/>
                <c:pt idx="0">
                  <c:v>Січень</c:v>
                </c:pt>
                <c:pt idx="1">
                  <c:v>Лютий</c:v>
                </c:pt>
                <c:pt idx="2">
                  <c:v>Березень</c:v>
                </c:pt>
                <c:pt idx="3">
                  <c:v>Квітень</c:v>
                </c:pt>
                <c:pt idx="4">
                  <c:v>Травень</c:v>
                </c:pt>
                <c:pt idx="5">
                  <c:v>Червень</c:v>
                </c:pt>
              </c:strCache>
            </c:strRef>
          </c:cat>
          <c:val>
            <c:numRef>
              <c:f>Таблиця!$E$8:$J$8</c:f>
              <c:numCache>
                <c:formatCode>General</c:formatCode>
                <c:ptCount val="6"/>
                <c:pt idx="0">
                  <c:v>17</c:v>
                </c:pt>
                <c:pt idx="1">
                  <c:v>32</c:v>
                </c:pt>
                <c:pt idx="2">
                  <c:v>8</c:v>
                </c:pt>
                <c:pt idx="3">
                  <c:v>17</c:v>
                </c:pt>
                <c:pt idx="4">
                  <c:v>32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49-4443-89D7-C9D64D350BA4}"/>
            </c:ext>
          </c:extLst>
        </c:ser>
        <c:ser>
          <c:idx val="1"/>
          <c:order val="1"/>
          <c:tx>
            <c:strRef>
              <c:f>Таблиця!$D$9</c:f>
              <c:strCache>
                <c:ptCount val="1"/>
                <c:pt idx="0">
                  <c:v>Обруч масажний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Таблиця!$E$4:$J$4</c:f>
              <c:strCache>
                <c:ptCount val="6"/>
                <c:pt idx="0">
                  <c:v>Січень</c:v>
                </c:pt>
                <c:pt idx="1">
                  <c:v>Лютий</c:v>
                </c:pt>
                <c:pt idx="2">
                  <c:v>Березень</c:v>
                </c:pt>
                <c:pt idx="3">
                  <c:v>Квітень</c:v>
                </c:pt>
                <c:pt idx="4">
                  <c:v>Травень</c:v>
                </c:pt>
                <c:pt idx="5">
                  <c:v>Червень</c:v>
                </c:pt>
              </c:strCache>
            </c:strRef>
          </c:cat>
          <c:val>
            <c:numRef>
              <c:f>Таблиця!$E$9:$J$9</c:f>
              <c:numCache>
                <c:formatCode>General</c:formatCode>
                <c:ptCount val="6"/>
                <c:pt idx="0">
                  <c:v>19</c:v>
                </c:pt>
                <c:pt idx="1">
                  <c:v>22</c:v>
                </c:pt>
                <c:pt idx="2">
                  <c:v>16</c:v>
                </c:pt>
                <c:pt idx="3">
                  <c:v>19</c:v>
                </c:pt>
                <c:pt idx="4">
                  <c:v>7</c:v>
                </c:pt>
                <c:pt idx="5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49-4443-89D7-C9D64D350B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684680463"/>
        <c:axId val="684681295"/>
      </c:barChart>
      <c:catAx>
        <c:axId val="684680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684681295"/>
        <c:crosses val="autoZero"/>
        <c:auto val="1"/>
        <c:lblAlgn val="ctr"/>
        <c:lblOffset val="100"/>
        <c:noMultiLvlLbl val="0"/>
      </c:catAx>
      <c:valAx>
        <c:axId val="684681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684680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6957629707810241"/>
          <c:y val="3.4393448082607941E-2"/>
          <c:w val="0.39488792911898679"/>
          <c:h val="4.74885092561589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uk-UA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AE0F6B-E25A-4BE3-BF8F-33676F46464D}" type="datetimeFigureOut">
              <a:rPr lang="uk-UA" smtClean="0"/>
              <a:pPr/>
              <a:t>09.08.2026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471E1-1186-4931-AC9C-26497353114D}" type="slidenum">
              <a:rPr lang="uk-UA" smtClean="0"/>
              <a:pPr/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A471E1-1186-4931-AC9C-26497353114D}" type="slidenum">
              <a:rPr lang="uk-UA" smtClean="0"/>
              <a:pPr/>
              <a:t>1</a:t>
            </a:fld>
            <a:endParaRPr lang="uk-U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A471E1-1186-4931-AC9C-26497353114D}" type="slidenum">
              <a:rPr lang="uk-UA" smtClean="0"/>
              <a:pPr/>
              <a:t>2</a:t>
            </a:fld>
            <a:endParaRPr lang="uk-U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A471E1-1186-4931-AC9C-26497353114D}" type="slidenum">
              <a:rPr lang="uk-UA" smtClean="0"/>
              <a:pPr/>
              <a:t>3</a:t>
            </a:fld>
            <a:endParaRPr lang="uk-U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A471E1-1186-4931-AC9C-26497353114D}" type="slidenum">
              <a:rPr lang="uk-UA" smtClean="0"/>
              <a:pPr/>
              <a:t>4</a:t>
            </a:fld>
            <a:endParaRPr lang="uk-U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A471E1-1186-4931-AC9C-26497353114D}" type="slidenum">
              <a:rPr lang="uk-UA" smtClean="0"/>
              <a:pPr/>
              <a:t>5</a:t>
            </a:fld>
            <a:endParaRPr lang="uk-U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A471E1-1186-4931-AC9C-26497353114D}" type="slidenum">
              <a:rPr lang="uk-UA" smtClean="0"/>
              <a:pPr/>
              <a:t>6</a:t>
            </a:fld>
            <a:endParaRPr lang="uk-U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3048000" y="3124200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9" name="Підзаголовок 8"/>
          <p:cNvSpPr>
            <a:spLocks noGrp="1"/>
          </p:cNvSpPr>
          <p:nvPr>
            <p:ph type="subTitle" idx="1"/>
          </p:nvPr>
        </p:nvSpPr>
        <p:spPr>
          <a:xfrm>
            <a:off x="3048000" y="5003322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uk-UA"/>
              <a:t>Зразок підзаголовка</a:t>
            </a:r>
            <a:endParaRPr kumimoji="0" lang="en-US"/>
          </a:p>
        </p:txBody>
      </p:sp>
      <p:sp>
        <p:nvSpPr>
          <p:cNvPr id="28" name="Місце для дати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fld id="{2846F0EC-9185-4462-908D-6192ACD686C1}" type="datetimeFigureOut">
              <a:rPr lang="uk-UA" smtClean="0"/>
              <a:pPr/>
              <a:t>09.08.2026</a:t>
            </a:fld>
            <a:endParaRPr lang="uk-UA"/>
          </a:p>
        </p:txBody>
      </p:sp>
      <p:sp>
        <p:nvSpPr>
          <p:cNvPr id="17" name="Місце для нижнього колонтитула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uk-UA"/>
          </a:p>
        </p:txBody>
      </p:sp>
      <p:sp>
        <p:nvSpPr>
          <p:cNvPr id="10" name="Прямокутник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Прямокутник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4" name="Прямокутник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Прямокутник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Пряма сполучна лінія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8" name="Пряма сполучна лінія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0" name="Пряма сполучна лінія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6" name="Пряма сполучна лінія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5" name="Пряма сполучна лінія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2" name="Пряма сполучна лінія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7" name="Прямокутник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5" name="Овал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9" name="Місце для номера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8" name="Місце для вмісту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846F0EC-9185-4462-908D-6192ACD686C1}" type="datetimeFigureOut">
              <a:rPr lang="uk-UA" smtClean="0"/>
              <a:pPr/>
              <a:t>09.08.2026</a:t>
            </a:fld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10" name="Місце для нижнього колонтитула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0" y="2895600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3048000" y="5010150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fld id="{2846F0EC-9185-4462-908D-6192ACD686C1}" type="datetimeFigureOut">
              <a:rPr lang="uk-UA" smtClean="0"/>
              <a:pPr/>
              <a:t>09.08.2026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uk-UA"/>
          </a:p>
        </p:txBody>
      </p:sp>
      <p:sp>
        <p:nvSpPr>
          <p:cNvPr id="9" name="Прямокутник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Прямокутник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Прямокутник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Прямокутник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Пряма сполучна лінія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4" name="Пряма сполучна лінія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5" name="Пряма сполучна лінія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6" name="Пряма сполучна лінія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7" name="Пряма сполучна лінія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8" name="Прямокутник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6" name="Пряма сполучна лінія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F0EC-9185-4462-908D-6192ACD686C1}" type="datetimeFigureOut">
              <a:rPr lang="uk-UA" smtClean="0"/>
              <a:pPr/>
              <a:t>09.08.2026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9" name="Місце для вмісту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11" name="Місце для вмісту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F0EC-9185-4462-908D-6192ACD686C1}" type="datetimeFigureOut">
              <a:rPr lang="uk-UA" smtClean="0"/>
              <a:pPr/>
              <a:t>09.08.2026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11" name="Місце для вмісту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13" name="Місце для вмісту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12" name="Місце для тексту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14" name="Місце для тексту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6" name="Місце для дати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846F0EC-9185-4462-908D-6192ACD686C1}" type="datetimeFigureOut">
              <a:rPr lang="uk-UA" smtClean="0"/>
              <a:pPr/>
              <a:t>09.08.2026</a:t>
            </a:fld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F0EC-9185-4462-908D-6192ACD686C1}" type="datetimeFigureOut">
              <a:rPr lang="uk-UA" smtClean="0"/>
              <a:pPr/>
              <a:t>09.08.2026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з підписом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 сполучна лінія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8" name="Пряма сполучна лінія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Пряма сполучна лінія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11" name="Пряма сполучна лінія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Прямокутник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Пряма сполучна лінія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4" name="Овал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8" name="Місце для вмісту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21" name="Місце для дати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846F0EC-9185-4462-908D-6192ACD686C1}" type="datetimeFigureOut">
              <a:rPr lang="uk-UA" smtClean="0"/>
              <a:pPr/>
              <a:t>09.08.2026</a:t>
            </a:fld>
            <a:endParaRPr lang="uk-UA"/>
          </a:p>
        </p:txBody>
      </p:sp>
      <p:sp>
        <p:nvSpPr>
          <p:cNvPr id="22" name="Місце для номера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3" name="Місце для нижнього колонтитула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uk-U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 сполучна лінія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3" name="Овал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uk-UA"/>
              <a:t>Клацніть піктограму, щоб додати зображення</a:t>
            </a:r>
            <a:endParaRPr kumimoji="0" lang="en-US" dirty="0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10" name="Пряма сполучна лінія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1" name="Прямокутник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Пряма сполучна лінія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9" name="Пряма сполучна лінія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20" name="Пряма сполучна лінія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17" name="Місце для дати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846F0EC-9185-4462-908D-6192ACD686C1}" type="datetimeFigureOut">
              <a:rPr lang="uk-UA" smtClean="0"/>
              <a:pPr/>
              <a:t>09.08.2026</a:t>
            </a:fld>
            <a:endParaRPr lang="uk-UA"/>
          </a:p>
        </p:txBody>
      </p:sp>
      <p:sp>
        <p:nvSpPr>
          <p:cNvPr id="18" name="Місце для номера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1" name="Місце для нижнього колонтитула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F0EC-9185-4462-908D-6192ACD686C1}" type="datetimeFigureOut">
              <a:rPr lang="uk-UA" smtClean="0"/>
              <a:pPr/>
              <a:t>09.08.2026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F0EC-9185-4462-908D-6192ACD686C1}" type="datetimeFigureOut">
              <a:rPr lang="uk-UA" smtClean="0"/>
              <a:pPr/>
              <a:t>09.08.2026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 сполучна лінія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22" name="Місце для заголовка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13" name="Місце для тексту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uk-UA"/>
              <a:t>Зразок тексту</a:t>
            </a:r>
          </a:p>
          <a:p>
            <a:pPr lvl="1" eaLnBrk="1" latinLnBrk="0" hangingPunct="1"/>
            <a:r>
              <a:rPr kumimoji="0" lang="uk-UA"/>
              <a:t>Другий рівень</a:t>
            </a:r>
          </a:p>
          <a:p>
            <a:pPr lvl="2" eaLnBrk="1" latinLnBrk="0" hangingPunct="1"/>
            <a:r>
              <a:rPr kumimoji="0" lang="uk-UA"/>
              <a:t>Третій рівень</a:t>
            </a:r>
          </a:p>
          <a:p>
            <a:pPr lvl="3" eaLnBrk="1" latinLnBrk="0" hangingPunct="1"/>
            <a:r>
              <a:rPr kumimoji="0" lang="uk-UA"/>
              <a:t>Четвертий рівень</a:t>
            </a:r>
          </a:p>
          <a:p>
            <a:pPr lvl="4" eaLnBrk="1" latinLnBrk="0" hangingPunct="1"/>
            <a:r>
              <a:rPr kumimoji="0" lang="uk-UA"/>
              <a:t>П'ятий рівень</a:t>
            </a:r>
            <a:endParaRPr kumimoji="0" lang="en-US"/>
          </a:p>
        </p:txBody>
      </p:sp>
      <p:sp>
        <p:nvSpPr>
          <p:cNvPr id="14" name="Місце для дати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2846F0EC-9185-4462-908D-6192ACD686C1}" type="datetimeFigureOut">
              <a:rPr lang="uk-UA" smtClean="0"/>
              <a:pPr/>
              <a:t>09.08.2026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7" name="Пряма сполучна лінія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Пряма сполучна лінія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Прямокутник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Пряма сполучна лінія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Овал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3" name="Місце для номера слайда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>
                <a:solidFill>
                  <a:schemeClr val="tx1"/>
                </a:solidFill>
              </a:rPr>
              <a:t>Магазин “Ого-Спорт”</a:t>
            </a: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>
                <a:solidFill>
                  <a:schemeClr val="tx1"/>
                </a:solidFill>
              </a:rPr>
              <a:t>Аналіз продажу </a:t>
            </a:r>
            <a:r>
              <a:rPr lang="en-US" dirty="0">
                <a:solidFill>
                  <a:schemeClr val="tx1"/>
                </a:solidFill>
              </a:rPr>
              <a:t>TOP-</a:t>
            </a:r>
            <a:r>
              <a:rPr lang="uk-UA" dirty="0">
                <a:solidFill>
                  <a:schemeClr val="tx1"/>
                </a:solidFill>
              </a:rPr>
              <a:t>5 товарів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>
                <a:solidFill>
                  <a:schemeClr val="tx1"/>
                </a:solidFill>
              </a:rPr>
              <a:t>Продаж килимків для фітнесу</a:t>
            </a:r>
            <a:br>
              <a:rPr lang="uk-UA" dirty="0">
                <a:solidFill>
                  <a:schemeClr val="tx1"/>
                </a:solidFill>
              </a:rPr>
            </a:br>
            <a:r>
              <a:rPr lang="uk-UA" sz="2000" dirty="0">
                <a:solidFill>
                  <a:schemeClr val="tx1"/>
                </a:solidFill>
              </a:rPr>
              <a:t>(тис. грн)</a:t>
            </a:r>
          </a:p>
        </p:txBody>
      </p:sp>
      <p:graphicFrame>
        <p:nvGraphicFramePr>
          <p:cNvPr id="6" name="Діаграма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0791936"/>
              </p:ext>
            </p:extLst>
          </p:nvPr>
        </p:nvGraphicFramePr>
        <p:xfrm>
          <a:off x="1981200" y="2132856"/>
          <a:ext cx="7704856" cy="4179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chemeClr val="tx1"/>
                </a:solidFill>
              </a:rPr>
              <a:t>Продаж товарів за січень</a:t>
            </a:r>
          </a:p>
        </p:txBody>
      </p:sp>
      <p:graphicFrame>
        <p:nvGraphicFramePr>
          <p:cNvPr id="4" name="Діагра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5913226"/>
              </p:ext>
            </p:extLst>
          </p:nvPr>
        </p:nvGraphicFramePr>
        <p:xfrm>
          <a:off x="2447764" y="1988840"/>
          <a:ext cx="7176628" cy="4464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chemeClr val="tx1"/>
                </a:solidFill>
              </a:rPr>
              <a:t>Продаж товарів </a:t>
            </a:r>
            <a:br>
              <a:rPr lang="uk-UA" dirty="0">
                <a:solidFill>
                  <a:schemeClr val="tx1"/>
                </a:solidFill>
              </a:rPr>
            </a:br>
            <a:r>
              <a:rPr lang="uk-UA" dirty="0">
                <a:solidFill>
                  <a:schemeClr val="tx1"/>
                </a:solidFill>
              </a:rPr>
              <a:t>для фітнесу і аеробіки</a:t>
            </a:r>
          </a:p>
        </p:txBody>
      </p:sp>
      <p:graphicFrame>
        <p:nvGraphicFramePr>
          <p:cNvPr id="4" name="Діагра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5810739"/>
              </p:ext>
            </p:extLst>
          </p:nvPr>
        </p:nvGraphicFramePr>
        <p:xfrm>
          <a:off x="2351584" y="2057400"/>
          <a:ext cx="7200800" cy="44679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38400" y="274638"/>
            <a:ext cx="7772400" cy="778098"/>
          </a:xfrm>
        </p:spPr>
        <p:txBody>
          <a:bodyPr/>
          <a:lstStyle/>
          <a:p>
            <a:r>
              <a:rPr lang="uk-UA" dirty="0">
                <a:solidFill>
                  <a:schemeClr val="tx1"/>
                </a:solidFill>
              </a:rPr>
              <a:t>Важка атлетика</a:t>
            </a:r>
          </a:p>
        </p:txBody>
      </p:sp>
      <p:pic>
        <p:nvPicPr>
          <p:cNvPr id="5" name="Рисунок 4" descr="1-гантелі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95539" y="1357299"/>
            <a:ext cx="3419953" cy="2095793"/>
          </a:xfrm>
          <a:prstGeom prst="rect">
            <a:avLst/>
          </a:prstGeom>
        </p:spPr>
      </p:pic>
      <p:pic>
        <p:nvPicPr>
          <p:cNvPr id="6" name="Рисунок 5" descr="2-гиря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104112" y="1988841"/>
            <a:ext cx="2704920" cy="3285731"/>
          </a:xfrm>
          <a:prstGeom prst="rect">
            <a:avLst/>
          </a:prstGeom>
        </p:spPr>
      </p:pic>
      <p:pic>
        <p:nvPicPr>
          <p:cNvPr id="7" name="Рисунок 6" descr="5-Штанга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452662" y="3933418"/>
            <a:ext cx="3629532" cy="29245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8282" y="3143249"/>
            <a:ext cx="207170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/>
              <a:t>Гантелі наборні хромовані 10 кг</a:t>
            </a:r>
            <a:endParaRPr lang="uk-UA" dirty="0"/>
          </a:p>
        </p:txBody>
      </p:sp>
      <p:sp>
        <p:nvSpPr>
          <p:cNvPr id="9" name="TextBox 8"/>
          <p:cNvSpPr txBox="1"/>
          <p:nvPr/>
        </p:nvSpPr>
        <p:spPr>
          <a:xfrm>
            <a:off x="7453322" y="5357826"/>
            <a:ext cx="242889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/>
              <a:t>Гиря чавунна 32 кг</a:t>
            </a:r>
            <a:endParaRPr lang="uk-UA" dirty="0"/>
          </a:p>
        </p:txBody>
      </p:sp>
      <p:sp>
        <p:nvSpPr>
          <p:cNvPr id="10" name="TextBox 9"/>
          <p:cNvSpPr txBox="1"/>
          <p:nvPr/>
        </p:nvSpPr>
        <p:spPr>
          <a:xfrm>
            <a:off x="4095736" y="6488668"/>
            <a:ext cx="314327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/>
              <a:t>Штанга олімпійська 95 кг</a:t>
            </a:r>
            <a:endParaRPr lang="uk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38400" y="274638"/>
            <a:ext cx="7772400" cy="778098"/>
          </a:xfrm>
        </p:spPr>
        <p:txBody>
          <a:bodyPr/>
          <a:lstStyle/>
          <a:p>
            <a:r>
              <a:rPr lang="uk-UA" dirty="0">
                <a:solidFill>
                  <a:schemeClr val="tx1"/>
                </a:solidFill>
              </a:rPr>
              <a:t>Фітнес та аеробіка</a:t>
            </a:r>
          </a:p>
        </p:txBody>
      </p:sp>
      <p:pic>
        <p:nvPicPr>
          <p:cNvPr id="3" name="Рисунок 2" descr="4-Обруч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07568" y="2132857"/>
            <a:ext cx="3219900" cy="2962689"/>
          </a:xfrm>
          <a:prstGeom prst="rect">
            <a:avLst/>
          </a:prstGeom>
        </p:spPr>
      </p:pic>
      <p:pic>
        <p:nvPicPr>
          <p:cNvPr id="4" name="Рисунок 3" descr="3-Коврик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12024" y="2348881"/>
            <a:ext cx="3524742" cy="24387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4" y="5286388"/>
            <a:ext cx="278608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k-UA" dirty="0"/>
              <a:t>Килимок</a:t>
            </a:r>
            <a:r>
              <a:rPr lang="ru-RU" dirty="0"/>
              <a:t> для фітнесу</a:t>
            </a:r>
            <a:endParaRPr lang="uk-UA" dirty="0"/>
          </a:p>
        </p:txBody>
      </p:sp>
      <p:sp>
        <p:nvSpPr>
          <p:cNvPr id="6" name="TextBox 5"/>
          <p:cNvSpPr txBox="1"/>
          <p:nvPr/>
        </p:nvSpPr>
        <p:spPr>
          <a:xfrm>
            <a:off x="2738414" y="5286388"/>
            <a:ext cx="250033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/>
              <a:t>Обруч масажний</a:t>
            </a:r>
            <a:endParaRPr lang="uk-UA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льков">
  <a:themeElements>
    <a:clrScheme name="Альков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Альков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Альков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0</TotalTime>
  <Words>59</Words>
  <Application>Microsoft Office PowerPoint</Application>
  <PresentationFormat>Широкий екран</PresentationFormat>
  <Paragraphs>18</Paragraphs>
  <Slides>6</Slides>
  <Notes>6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Calibri</vt:lpstr>
      <vt:lpstr>Century Schoolbook</vt:lpstr>
      <vt:lpstr>Wingdings</vt:lpstr>
      <vt:lpstr>Wingdings 2</vt:lpstr>
      <vt:lpstr>Альков</vt:lpstr>
      <vt:lpstr>Магазин “Ого-Спорт”</vt:lpstr>
      <vt:lpstr>Продаж килимків для фітнесу (тис. грн)</vt:lpstr>
      <vt:lpstr>Продаж товарів за січень</vt:lpstr>
      <vt:lpstr>Продаж товарів  для фітнесу і аеробіки</vt:lpstr>
      <vt:lpstr>Важка атлетика</vt:lpstr>
      <vt:lpstr>Фітнес та аеробіка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4</cp:revision>
  <dcterms:created xsi:type="dcterms:W3CDTF">2018-03-18T10:21:07Z</dcterms:created>
  <dcterms:modified xsi:type="dcterms:W3CDTF">2026-08-09T13:58:21Z</dcterms:modified>
</cp:coreProperties>
</file>