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9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scrgbClr r="0" g="0" b="0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87993" autoAdjust="0"/>
  </p:normalViewPr>
  <p:slideViewPr>
    <p:cSldViewPr>
      <p:cViewPr varScale="1">
        <p:scale>
          <a:sx n="72" d="100"/>
          <a:sy n="72" d="100"/>
        </p:scale>
        <p:origin x="1075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F97678DB-3F8D-4CD0-BA77-3656CB4B8304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55A5A28D-BDB6-46FF-A1EF-D3D59E3A726F}" type="slidenum">
              <a:rPr lang="en-US" smtClean="0"/>
              <a:pPr/>
              <a:t>‹№›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uk-UA" noProof="0" dirty="0"/>
              <a:t>Назва.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Розташування, площа, кількість</a:t>
            </a:r>
            <a:r>
              <a:rPr lang="uk-UA" sz="120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uk-UA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населення.</a:t>
            </a:r>
            <a:endParaRPr lang="uk-UA" noProof="0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Географічні</a:t>
            </a:r>
            <a:r>
              <a:rPr lang="uk-UA" sz="120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об’єкти.</a:t>
            </a:r>
            <a:endParaRPr lang="uk-UA" noProof="0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noProof="0" dirty="0"/>
              <a:t>Погодні</a:t>
            </a:r>
            <a:r>
              <a:rPr lang="uk-UA" baseline="0" noProof="0" dirty="0"/>
              <a:t> умови.</a:t>
            </a:r>
            <a:endParaRPr lang="uk-UA" noProof="0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Флора, фауна, риби.</a:t>
            </a:r>
            <a:endParaRPr lang="uk-UA" noProof="0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Історичні</a:t>
            </a:r>
            <a:r>
              <a:rPr lang="uk-UA" sz="120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події.</a:t>
            </a:r>
            <a:endParaRPr lang="uk-UA" noProof="0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Традиції.</a:t>
            </a:r>
            <a:endParaRPr lang="uk-UA" noProof="0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Керівник,</a:t>
            </a:r>
            <a:r>
              <a:rPr lang="uk-UA" sz="120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релігія, мова.</a:t>
            </a:r>
            <a:endParaRPr lang="uk-UA" noProof="0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Економіка,</a:t>
            </a:r>
            <a:r>
              <a:rPr lang="uk-UA" sz="120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рівень життя.</a:t>
            </a:r>
            <a:endParaRPr lang="uk-UA" noProof="0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Пам’ятки.</a:t>
            </a:r>
            <a:endParaRPr lang="uk-UA" noProof="0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Подорож </a:t>
            </a:r>
            <a:r>
              <a:rPr lang="uk-UA" sz="12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 України.</a:t>
            </a:r>
            <a:endParaRPr lang="uk-UA" noProof="0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12217400" cy="6858000"/>
            <a:chOff x="0" y="0"/>
            <a:chExt cx="9163050" cy="6858000"/>
          </a:xfrm>
        </p:grpSpPr>
        <p:pic>
          <p:nvPicPr>
            <p:cNvPr id="7" name="Rectangle 6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2" y="457200"/>
              <a:ext cx="9144000" cy="6400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Rectangle 7"/>
            <p:cNvSpPr/>
            <p:nvPr/>
          </p:nvSpPr>
          <p:spPr>
            <a:xfrm>
              <a:off x="1292" y="0"/>
              <a:ext cx="9144000" cy="6858000"/>
            </a:xfrm>
            <a:prstGeom prst="rect">
              <a:avLst/>
            </a:prstGeom>
            <a:solidFill>
              <a:schemeClr val="accent2">
                <a:shade val="75000"/>
                <a:alpha val="90000"/>
              </a:schemeClr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0" y="0"/>
              <a:ext cx="9144000" cy="2286000"/>
            </a:xfrm>
            <a:prstGeom prst="rect">
              <a:avLst/>
            </a:prstGeom>
            <a:gradFill flip="none" rotWithShape="1">
              <a:gsLst>
                <a:gs pos="33000">
                  <a:schemeClr val="accent3">
                    <a:alpha val="49000"/>
                  </a:schemeClr>
                </a:gs>
                <a:gs pos="100000">
                  <a:schemeClr val="bg1">
                    <a:alpha val="43000"/>
                  </a:schemeClr>
                </a:gs>
              </a:gsLst>
              <a:lin ang="5400000" scaled="1"/>
              <a:tileRect/>
            </a:gradFill>
            <a:ln w="25400" cap="rnd" cmpd="sng" algn="ctr">
              <a:noFill/>
              <a:prstDash val="solid"/>
            </a:ln>
            <a:effectLst/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292" y="1981200"/>
              <a:ext cx="9144000" cy="609600"/>
            </a:xfrm>
            <a:prstGeom prst="rect">
              <a:avLst/>
            </a:prstGeom>
            <a:solidFill>
              <a:schemeClr val="tx2"/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166" y="2590800"/>
              <a:ext cx="9144000" cy="457200"/>
            </a:xfrm>
            <a:prstGeom prst="rect">
              <a:avLst/>
            </a:prstGeom>
            <a:solidFill>
              <a:schemeClr val="accent6">
                <a:shade val="10000"/>
              </a:schemeClr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" y="0"/>
              <a:ext cx="9144000" cy="1981200"/>
            </a:xfrm>
            <a:prstGeom prst="rect">
              <a:avLst/>
            </a:prstGeom>
            <a:gradFill flip="none" rotWithShape="1">
              <a:gsLst>
                <a:gs pos="33000">
                  <a:schemeClr val="accent3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 w="25400" cap="rnd" cmpd="sng" algn="ctr">
              <a:noFill/>
              <a:prstDash val="solid"/>
            </a:ln>
            <a:effectLst/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52625"/>
            <a:ext cx="10363200" cy="666750"/>
          </a:xfrm>
        </p:spPr>
        <p:txBody>
          <a:bodyPr/>
          <a:lstStyle>
            <a:lvl1pPr algn="ctr">
              <a:defRPr sz="3600" cap="all" baseline="0">
                <a:effectLst>
                  <a:outerShdw blurRad="254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667000"/>
            <a:ext cx="10363200" cy="381000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outerShdw blurRad="254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/>
              <a:t>Зразок підзаголовка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'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озділу">
    <p:bg>
      <p:bgPr>
        <a:solidFill>
          <a:schemeClr val="accent6">
            <a:shade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228600"/>
            <a:ext cx="12192000" cy="6400800"/>
            <a:chOff x="0" y="228600"/>
            <a:chExt cx="9144000" cy="6400800"/>
          </a:xfrm>
        </p:grpSpPr>
        <p:pic>
          <p:nvPicPr>
            <p:cNvPr id="7" name="Rectangle 6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8600"/>
              <a:ext cx="9144000" cy="6400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Rectangle 7"/>
            <p:cNvSpPr/>
            <p:nvPr/>
          </p:nvSpPr>
          <p:spPr>
            <a:xfrm>
              <a:off x="0" y="228600"/>
              <a:ext cx="9144000" cy="6400800"/>
            </a:xfrm>
            <a:prstGeom prst="rect">
              <a:avLst/>
            </a:prstGeom>
            <a:solidFill>
              <a:schemeClr val="accent2">
                <a:shade val="50000"/>
                <a:alpha val="93000"/>
              </a:schemeClr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228600"/>
              <a:ext cx="9144000" cy="6199632"/>
            </a:xfrm>
            <a:prstGeom prst="rect">
              <a:avLst/>
            </a:prstGeom>
            <a:gradFill>
              <a:gsLst>
                <a:gs pos="66000">
                  <a:schemeClr val="accent3">
                    <a:alpha val="79000"/>
                  </a:schemeClr>
                </a:gs>
                <a:gs pos="100000">
                  <a:schemeClr val="bg1">
                    <a:alpha val="50000"/>
                  </a:schemeClr>
                </a:gs>
              </a:gsLst>
              <a:lin ang="5400000" scaled="1"/>
            </a:gradFill>
            <a:ln w="25400" cap="rnd" cmpd="sng" algn="ctr">
              <a:noFill/>
              <a:prstDash val="solid"/>
            </a:ln>
            <a:effectLst/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0" y="3505201"/>
            <a:ext cx="10363200" cy="1362075"/>
          </a:xfrm>
        </p:spPr>
        <p:txBody>
          <a:bodyPr anchor="b" anchorCtr="0"/>
          <a:lstStyle>
            <a:lvl1pPr algn="l">
              <a:defRPr sz="3600" b="0" cap="all" baseline="0">
                <a:effectLst>
                  <a:outerShdw blurRad="254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0" y="4876802"/>
            <a:ext cx="10363200" cy="1042987"/>
          </a:xfrm>
        </p:spPr>
        <p:txBody>
          <a:bodyPr anchor="t" anchorCtr="0"/>
          <a:lstStyle>
            <a:lvl1pPr marL="0" indent="0">
              <a:buNone/>
              <a:defRPr sz="1600">
                <a:solidFill>
                  <a:schemeClr val="accent6">
                    <a:shade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Зразок тексту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'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9144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chemeClr val="accent6">
                <a:shade val="10000"/>
              </a:schemeClr>
            </a:solidFill>
            <a:ln w="25400" cap="rnd" cmpd="sng" algn="ctr">
              <a:noFill/>
              <a:prstDash val="solid"/>
            </a:ln>
            <a:effectLst/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pic>
          <p:nvPicPr>
            <p:cNvPr id="13" name="Rectangle 12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228600"/>
              <a:ext cx="9144000" cy="6400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Rectangle 13"/>
            <p:cNvSpPr/>
            <p:nvPr/>
          </p:nvSpPr>
          <p:spPr>
            <a:xfrm>
              <a:off x="0" y="228600"/>
              <a:ext cx="9144000" cy="6400800"/>
            </a:xfrm>
            <a:prstGeom prst="rect">
              <a:avLst/>
            </a:prstGeom>
            <a:solidFill>
              <a:schemeClr val="accent2">
                <a:shade val="50000"/>
                <a:alpha val="90000"/>
              </a:schemeClr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0" y="1371601"/>
              <a:ext cx="9144000" cy="5057775"/>
            </a:xfrm>
            <a:prstGeom prst="rect">
              <a:avLst/>
            </a:prstGeom>
            <a:gradFill>
              <a:gsLst>
                <a:gs pos="66000">
                  <a:schemeClr val="accent3">
                    <a:alpha val="79000"/>
                  </a:schemeClr>
                </a:gs>
                <a:gs pos="100000">
                  <a:schemeClr val="bg1">
                    <a:alpha val="50000"/>
                  </a:schemeClr>
                </a:gs>
              </a:gsLst>
              <a:lin ang="5400000" scaled="1"/>
            </a:gradFill>
            <a:ln w="25400" cap="rnd" cmpd="sng" algn="ctr">
              <a:noFill/>
              <a:prstDash val="solid"/>
            </a:ln>
            <a:effectLst/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27013"/>
            <a:ext cx="10972800" cy="1143000"/>
          </a:xfrm>
          <a:prstGeom prst="rect">
            <a:avLst/>
          </a:prstGeom>
        </p:spPr>
        <p:txBody>
          <a:bodyPr vert="horz" rtlCol="0" anchor="b" anchorCtr="0">
            <a:normAutofit/>
          </a:bodyPr>
          <a:lstStyle/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14476"/>
            <a:ext cx="10972800" cy="4611688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92637"/>
            <a:ext cx="2844800" cy="365125"/>
          </a:xfrm>
          <a:prstGeom prst="rect">
            <a:avLst/>
          </a:prstGeom>
        </p:spPr>
        <p:txBody>
          <a:bodyPr vert="horz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22B01318-6ABD-4BDD-BBB0-D5B124F36B42}" type="datetimeFigureOut">
              <a:rPr lang="en-US" smtClean="0">
                <a:solidFill>
                  <a:schemeClr val="bg1"/>
                </a:solidFill>
              </a:rPr>
              <a:pPr/>
              <a:t>7/29/2026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92637"/>
            <a:ext cx="3860800" cy="365125"/>
          </a:xfrm>
          <a:prstGeom prst="rect">
            <a:avLst/>
          </a:prstGeom>
        </p:spPr>
        <p:txBody>
          <a:bodyPr vert="horz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92637"/>
            <a:ext cx="2844800" cy="365125"/>
          </a:xfrm>
          <a:prstGeom prst="rect">
            <a:avLst/>
          </a:prstGeom>
        </p:spPr>
        <p:txBody>
          <a:bodyPr vert="horz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62D56ECA-4C16-4208-B374-27591EF545A3}" type="slidenum">
              <a:rPr lang="en-US" smtClean="0">
                <a:solidFill>
                  <a:schemeClr val="bg1"/>
                </a:solidFill>
              </a:rPr>
              <a:pPr/>
              <a:t>‹№›</a:t>
            </a:fld>
            <a:endParaRPr lang="en-US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eaLnBrk="1" latinLnBrk="0" hangingPunct="1">
        <a:spcBef>
          <a:spcPct val="0"/>
        </a:spcBef>
        <a:buNone/>
        <a:defRPr sz="3600" kern="1200" cap="all" baseline="0">
          <a:solidFill>
            <a:schemeClr val="bg1"/>
          </a:solidFill>
          <a:effectLst>
            <a:outerShdw blurRad="254000" algn="tl" rotWithShape="0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accent6">
              <a:shade val="10000"/>
            </a:schemeClr>
          </a:solidFill>
          <a:latin typeface="+mj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accent6">
              <a:shade val="10000"/>
            </a:schemeClr>
          </a:solidFill>
          <a:latin typeface="+mj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accent6">
              <a:shade val="10000"/>
            </a:schemeClr>
          </a:solidFill>
          <a:latin typeface="+mj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accent6">
              <a:shade val="10000"/>
            </a:schemeClr>
          </a:solidFill>
          <a:latin typeface="+mj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accent6">
              <a:shade val="10000"/>
            </a:schemeClr>
          </a:solidFill>
          <a:latin typeface="+mj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cap="none" dirty="0"/>
              <a:t>Назва вашої країни (курорту)</a:t>
            </a:r>
            <a:endParaRPr lang="uk-UA" cap="none" noProof="0" dirty="0"/>
          </a:p>
        </p:txBody>
      </p:sp>
      <p:sp>
        <p:nvSpPr>
          <p:cNvPr id="3" name="Rectang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Ваше прізвище</a:t>
            </a:r>
            <a:endParaRPr lang="uk-UA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2495600" y="3284984"/>
            <a:ext cx="7416824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uk-UA" sz="2000" dirty="0"/>
              <a:t>Мальдівські острови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uk-UA" sz="2000" dirty="0"/>
              <a:t>Сейшельські острови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uk-UA" sz="2000" dirty="0"/>
              <a:t>Багамські острови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uk-UA" sz="2000" dirty="0"/>
              <a:t>Канарські острови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uk-UA" sz="2000" dirty="0"/>
              <a:t>Гавайські острови (штат в США)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uk-UA" sz="2000" dirty="0"/>
              <a:t>Гоа (штат в Індії)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uk-UA" sz="2000" dirty="0"/>
              <a:t>Балі (острів в Індонезії)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uk-UA" cap="none" noProof="0" dirty="0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400" dirty="0"/>
              <a:t>На якому континенті міститься ваша країна? Яка її площа (порівняйте з областями України чи усією Україною</a:t>
            </a:r>
            <a:r>
              <a:rPr lang="en-US" sz="2400" dirty="0"/>
              <a:t>)</a:t>
            </a:r>
            <a:r>
              <a:rPr lang="uk-UA" sz="2400" dirty="0"/>
              <a:t>? Яка кількість населення у ній проживає?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uk-UA" cap="none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400" dirty="0"/>
              <a:t>Перелічіть найбільші ріки, озера, океани, гірські вершини, моря чи океани, що її омивають та інші географічні об'єкти, розташовані у вашій країні.</a:t>
            </a:r>
            <a:r>
              <a:rPr lang="en-US" sz="2400" dirty="0"/>
              <a:t> </a:t>
            </a:r>
            <a:endParaRPr lang="uk-UA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 cap="none" noProof="0" dirty="0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400" dirty="0"/>
              <a:t>Розкажіть про типові погодні умови у вашій країні в різні пори року чи у «пляжний» сезон. Коли найкраще їхати до вашої країни відпочивати?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uk-UA" cap="none" noProof="0" dirty="0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400" dirty="0"/>
              <a:t>Опишіть деякі з видів диких тварин, рослин чи риб, притаманних вашій країні.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cap="none" dirty="0"/>
              <a:t>Історія</a:t>
            </a:r>
            <a:endParaRPr lang="uk-UA" cap="none" noProof="0" dirty="0"/>
          </a:p>
        </p:txBody>
      </p:sp>
      <p:graphicFrame>
        <p:nvGraphicFramePr>
          <p:cNvPr id="6" name="Таблиця 5"/>
          <p:cNvGraphicFramePr>
            <a:graphicFrameLocks noGrp="1"/>
          </p:cNvGraphicFramePr>
          <p:nvPr/>
        </p:nvGraphicFramePr>
        <p:xfrm>
          <a:off x="1991544" y="2067838"/>
          <a:ext cx="8136904" cy="2945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1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5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0890">
                <a:tc>
                  <a:txBody>
                    <a:bodyPr/>
                    <a:lstStyle/>
                    <a:p>
                      <a:r>
                        <a:rPr lang="uk-UA" sz="2000" dirty="0"/>
                        <a:t>Дати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2000" dirty="0"/>
                        <a:t>Події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90">
                <a:tc>
                  <a:txBody>
                    <a:bodyPr/>
                    <a:lstStyle/>
                    <a:p>
                      <a:r>
                        <a:rPr lang="uk-UA" sz="2000" dirty="0"/>
                        <a:t>Дата</a:t>
                      </a:r>
                      <a:r>
                        <a:rPr lang="uk-UA" sz="2000" baseline="0" dirty="0"/>
                        <a:t> 1</a:t>
                      </a:r>
                      <a:endParaRPr lang="uk-UA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2000" dirty="0"/>
                        <a:t>Опис події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90">
                <a:tc>
                  <a:txBody>
                    <a:bodyPr/>
                    <a:lstStyle/>
                    <a:p>
                      <a:r>
                        <a:rPr lang="uk-UA" sz="2000" dirty="0"/>
                        <a:t>Дата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000" dirty="0"/>
                        <a:t>Опис події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90">
                <a:tc>
                  <a:txBody>
                    <a:bodyPr/>
                    <a:lstStyle/>
                    <a:p>
                      <a:r>
                        <a:rPr lang="uk-UA" sz="2000" dirty="0"/>
                        <a:t>Дата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000" dirty="0"/>
                        <a:t>Опис події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890">
                <a:tc>
                  <a:txBody>
                    <a:bodyPr/>
                    <a:lstStyle/>
                    <a:p>
                      <a:r>
                        <a:rPr lang="uk-UA" sz="2000" dirty="0"/>
                        <a:t>Дата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000" dirty="0"/>
                        <a:t>Опис події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890">
                <a:tc>
                  <a:txBody>
                    <a:bodyPr/>
                    <a:lstStyle/>
                    <a:p>
                      <a:r>
                        <a:rPr lang="uk-UA" sz="2000" dirty="0"/>
                        <a:t>Дата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000" dirty="0"/>
                        <a:t>Опис події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uk-UA" cap="none" noProof="0" dirty="0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400" dirty="0"/>
              <a:t>Розкажіть про важливі звичаї та традиції, яких додержують у вашій країні. Опишіть основні свята, коли вони святкуються. Або опишіть фестивалі, які проходять у вашій країні.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uk-UA" cap="none" noProof="0" dirty="0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400" dirty="0"/>
              <a:t>Якою мовою розмовляють місцеві мешканці? Яка релігія панує у державі?</a:t>
            </a:r>
            <a:r>
              <a:rPr lang="en-US" sz="2400" dirty="0"/>
              <a:t> </a:t>
            </a:r>
            <a:r>
              <a:rPr lang="uk-UA" sz="2400" dirty="0"/>
              <a:t>Яка валюта?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uk-UA" cap="none" noProof="0" dirty="0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400" dirty="0"/>
              <a:t>Розкажіть, чим займаються звичайні мешканці вашої країни (крім туризму).  Який рівень життя у вашій країні?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 cap="none" noProof="0" dirty="0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400" dirty="0"/>
              <a:t>Розкажіть про визначні пам'ятки, споруди вашої країни, які може бути цікаво відвідати мешканцям інших країн (крім пляжів).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 cap="none" noProof="0" dirty="0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400" dirty="0"/>
              <a:t>Яка відстань від вашої країни до України, як і скільки часу слід добиратися з Києва? Скільки може коштувати найдешевша поїздка до вашої країни?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пис курорту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E47E7E"/>
      </a:hlink>
      <a:folHlink>
        <a:srgbClr val="C84447"/>
      </a:folHlink>
    </a:clrScheme>
    <a:fontScheme name="Office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>
    <a:spDef>
      <a:spPr>
        <a:solidFill>
          <a:schemeClr val="accent3"/>
        </a:solidFill>
        <a:ln w="25400" cap="rnd" cmpd="sng" algn="ctr">
          <a:noFill/>
          <a:prstDash val="solid"/>
        </a:ln>
        <a:effectLst/>
      </a:spPr>
      <a:bodyPr rtlCol="0" anchor="ctr"/>
      <a:lstStyle>
        <a:defPPr algn="ctr">
          <a:defRPr/>
        </a:defPPr>
      </a:lstStyle>
      <a:style>
        <a:lnRef idx="2">
          <a:schemeClr val="accent1"/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Опис курорту</Template>
  <TotalTime>0</TotalTime>
  <Words>321</Words>
  <Application>Microsoft Office PowerPoint</Application>
  <PresentationFormat>Широкий екран</PresentationFormat>
  <Paragraphs>53</Paragraphs>
  <Slides>11</Slides>
  <Notes>11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Опис курорту</vt:lpstr>
      <vt:lpstr>Назва вашої країни (курорту)</vt:lpstr>
      <vt:lpstr>Презентація PowerPoint</vt:lpstr>
      <vt:lpstr>Презентація PowerPoint</vt:lpstr>
      <vt:lpstr>Презентація PowerPoint</vt:lpstr>
      <vt:lpstr>Презентація PowerPoint</vt:lpstr>
      <vt:lpstr>Історія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>Teacher</cp:lastModifiedBy>
  <cp:revision>3</cp:revision>
  <dcterms:created xsi:type="dcterms:W3CDTF">2018-03-11T07:39:46Z</dcterms:created>
  <dcterms:modified xsi:type="dcterms:W3CDTF">2026-07-29T11:58:31Z</dcterms:modified>
  <cp:version/>
</cp:coreProperties>
</file>